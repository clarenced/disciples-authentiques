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10287000" cx="18288000"/>
  <p:notesSz cx="6858000" cy="9144000"/>
  <p:embeddedFontLst>
    <p:embeddedFont>
      <p:font typeface="Robo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9" roundtripDataSignature="AMtx7mi2kIDOAFD6cum4D+FevZy2fVW21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regular.fntdata"/><Relationship Id="rId14" Type="http://schemas.openxmlformats.org/officeDocument/2006/relationships/slide" Target="slides/slide9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bb17d8a8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3fbb17d8a8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bb17d8a8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fbb17d8a82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bb17d8a82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fbb17d8a82_1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fbb17d8a82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fbb17d8a82_1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fbb17d8a82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fbb17d8a82_1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bb17d8a82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fbb17d8a82_1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bb17d8a82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fbb17d8a82_1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b17d8a82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fbb17d8a82_1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.png"/><Relationship Id="rId6" Type="http://schemas.openxmlformats.org/officeDocument/2006/relationships/image" Target="../media/image3.png"/><Relationship Id="rId7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7982" l="-1215" r="0" t="-83915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-410099" y="-431209"/>
            <a:ext cx="27926414" cy="20525914"/>
          </a:xfrm>
          <a:custGeom>
            <a:rect b="b" l="l" r="r" t="t"/>
            <a:pathLst>
              <a:path extrusionOk="0" h="20525914" w="27926414">
                <a:moveTo>
                  <a:pt x="0" y="0"/>
                </a:moveTo>
                <a:lnTo>
                  <a:pt x="27926413" y="0"/>
                </a:lnTo>
                <a:lnTo>
                  <a:pt x="27926413" y="20525914"/>
                </a:lnTo>
                <a:lnTo>
                  <a:pt x="0" y="205259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1"/>
          <p:cNvSpPr/>
          <p:nvPr/>
        </p:nvSpPr>
        <p:spPr>
          <a:xfrm>
            <a:off x="1364340" y="566133"/>
            <a:ext cx="7440783" cy="11359974"/>
          </a:xfrm>
          <a:custGeom>
            <a:rect b="b" l="l" r="r" t="t"/>
            <a:pathLst>
              <a:path extrusionOk="0" h="11359974" w="7440783">
                <a:moveTo>
                  <a:pt x="0" y="0"/>
                </a:moveTo>
                <a:lnTo>
                  <a:pt x="7440783" y="0"/>
                </a:lnTo>
                <a:lnTo>
                  <a:pt x="7440783" y="11359974"/>
                </a:lnTo>
                <a:lnTo>
                  <a:pt x="0" y="113599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"/>
          <p:cNvSpPr/>
          <p:nvPr/>
        </p:nvSpPr>
        <p:spPr>
          <a:xfrm>
            <a:off x="7471398" y="0"/>
            <a:ext cx="11158415" cy="10209950"/>
          </a:xfrm>
          <a:custGeom>
            <a:rect b="b" l="l" r="r" t="t"/>
            <a:pathLst>
              <a:path extrusionOk="0" h="10209950" w="11158415">
                <a:moveTo>
                  <a:pt x="0" y="0"/>
                </a:moveTo>
                <a:lnTo>
                  <a:pt x="11158415" y="0"/>
                </a:lnTo>
                <a:lnTo>
                  <a:pt x="11158415" y="10209950"/>
                </a:lnTo>
                <a:lnTo>
                  <a:pt x="0" y="102099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86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" name="Google Shape;88;p1"/>
          <p:cNvSpPr txBox="1"/>
          <p:nvPr/>
        </p:nvSpPr>
        <p:spPr>
          <a:xfrm>
            <a:off x="0" y="3027638"/>
            <a:ext cx="10901267" cy="1699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54" u="none" cap="none" strike="noStrike">
                <a:solidFill>
                  <a:srgbClr val="7C6860"/>
                </a:solidFill>
                <a:latin typeface="Arial"/>
                <a:ea typeface="Arial"/>
                <a:cs typeface="Arial"/>
                <a:sym typeface="Arial"/>
              </a:rPr>
              <a:t>SERVITEURS</a:t>
            </a:r>
            <a:endParaRPr/>
          </a:p>
        </p:txBody>
      </p:sp>
      <p:sp>
        <p:nvSpPr>
          <p:cNvPr id="89" name="Google Shape;89;p1"/>
          <p:cNvSpPr/>
          <p:nvPr/>
        </p:nvSpPr>
        <p:spPr>
          <a:xfrm>
            <a:off x="2249270" y="5923798"/>
            <a:ext cx="5670923" cy="2636979"/>
          </a:xfrm>
          <a:custGeom>
            <a:rect b="b" l="l" r="r" t="t"/>
            <a:pathLst>
              <a:path extrusionOk="0" h="2636979" w="5670923">
                <a:moveTo>
                  <a:pt x="0" y="0"/>
                </a:moveTo>
                <a:lnTo>
                  <a:pt x="5670923" y="0"/>
                </a:lnTo>
                <a:lnTo>
                  <a:pt x="5670923" y="2636979"/>
                </a:lnTo>
                <a:lnTo>
                  <a:pt x="0" y="26369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" name="Google Shape;90;p1"/>
          <p:cNvSpPr txBox="1"/>
          <p:nvPr/>
        </p:nvSpPr>
        <p:spPr>
          <a:xfrm>
            <a:off x="527151" y="4711226"/>
            <a:ext cx="9846965" cy="2691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4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416" u="none" cap="none" strike="noStrike">
                <a:solidFill>
                  <a:srgbClr val="FFD550"/>
                </a:solidFill>
                <a:latin typeface="Arial"/>
                <a:ea typeface="Arial"/>
                <a:cs typeface="Arial"/>
                <a:sym typeface="Arial"/>
              </a:rPr>
              <a:t>du Roi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fbb17d8a82_0_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7989" l="-1210" r="0" t="-83908"/>
            </a:stretch>
          </a:blipFill>
          <a:ln>
            <a:noFill/>
          </a:ln>
        </p:spPr>
      </p:sp>
      <p:sp>
        <p:nvSpPr>
          <p:cNvPr id="96" name="Google Shape;96;g3fbb17d8a82_0_0"/>
          <p:cNvSpPr/>
          <p:nvPr/>
        </p:nvSpPr>
        <p:spPr>
          <a:xfrm>
            <a:off x="-410099" y="-431209"/>
            <a:ext cx="27926414" cy="20525914"/>
          </a:xfrm>
          <a:custGeom>
            <a:rect b="b" l="l" r="r" t="t"/>
            <a:pathLst>
              <a:path extrusionOk="0" h="20525914" w="27926414">
                <a:moveTo>
                  <a:pt x="0" y="0"/>
                </a:moveTo>
                <a:lnTo>
                  <a:pt x="27926413" y="0"/>
                </a:lnTo>
                <a:lnTo>
                  <a:pt x="27926413" y="20525914"/>
                </a:lnTo>
                <a:lnTo>
                  <a:pt x="0" y="205259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bb17d8a82_0_1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7989" l="-1210" r="0" t="-83908"/>
            </a:stretch>
          </a:blipFill>
          <a:ln>
            <a:noFill/>
          </a:ln>
        </p:spPr>
      </p:sp>
      <p:sp>
        <p:nvSpPr>
          <p:cNvPr id="102" name="Google Shape;102;g3fbb17d8a82_0_12"/>
          <p:cNvSpPr/>
          <p:nvPr/>
        </p:nvSpPr>
        <p:spPr>
          <a:xfrm>
            <a:off x="-410099" y="-431209"/>
            <a:ext cx="27926414" cy="20525914"/>
          </a:xfrm>
          <a:custGeom>
            <a:rect b="b" l="l" r="r" t="t"/>
            <a:pathLst>
              <a:path extrusionOk="0" h="20525914" w="27926414">
                <a:moveTo>
                  <a:pt x="0" y="0"/>
                </a:moveTo>
                <a:lnTo>
                  <a:pt x="27926413" y="0"/>
                </a:lnTo>
                <a:lnTo>
                  <a:pt x="27926413" y="20525914"/>
                </a:lnTo>
                <a:lnTo>
                  <a:pt x="0" y="205259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g3fbb17d8a82_0_12"/>
          <p:cNvSpPr txBox="1"/>
          <p:nvPr/>
        </p:nvSpPr>
        <p:spPr>
          <a:xfrm>
            <a:off x="4905600" y="164075"/>
            <a:ext cx="6792300" cy="127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Marc 3 verset 7-35 (Semeur) - </a:t>
            </a:r>
            <a:endParaRPr b="1" sz="3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g3fbb17d8a82_0_12"/>
          <p:cNvSpPr txBox="1"/>
          <p:nvPr/>
        </p:nvSpPr>
        <p:spPr>
          <a:xfrm>
            <a:off x="273475" y="1443875"/>
            <a:ext cx="16356300" cy="77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Jésus se retira du côté du lac avec ses disciples. Une foule immense le suivait : elle était venue de la Galilée, </a:t>
            </a:r>
            <a:r>
              <a:rPr b="1"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la Judée, de Jérusalem, de l’Idumée, des territoires de l’autre côté du Jourdain ainsi que de la région de Tyr et de Sidon. Ces gens venaient à lui car ils avaient appris tout ce qu’il faisait. 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Il demanda alors à ses disciples de tenir un bateau à sa disposition pour éviter d’être écrasé par la foule. </a:t>
            </a:r>
            <a:r>
              <a:rPr b="1"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 effet, comme il guérissait beaucoup de gens, tous les malades se précipitaient vers lui pour le toucher.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Lorsque des gens qui étaient sous l’emprise d’esprits mauvais le voyaient, ils se prosternaient devant lui et s’écriaient : Tu es le Fils de Dieu.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Mais il leur défendait absolument de faire savoir qui il était.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bb17d8a82_1_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7989" l="-1210" r="0" t="-83908"/>
            </a:stretch>
          </a:blipFill>
          <a:ln>
            <a:noFill/>
          </a:ln>
        </p:spPr>
      </p:sp>
      <p:sp>
        <p:nvSpPr>
          <p:cNvPr id="110" name="Google Shape;110;g3fbb17d8a82_1_5"/>
          <p:cNvSpPr/>
          <p:nvPr/>
        </p:nvSpPr>
        <p:spPr>
          <a:xfrm>
            <a:off x="-410099" y="-431209"/>
            <a:ext cx="27926414" cy="20525914"/>
          </a:xfrm>
          <a:custGeom>
            <a:rect b="b" l="l" r="r" t="t"/>
            <a:pathLst>
              <a:path extrusionOk="0" h="20525914" w="27926414">
                <a:moveTo>
                  <a:pt x="0" y="0"/>
                </a:moveTo>
                <a:lnTo>
                  <a:pt x="27926413" y="0"/>
                </a:lnTo>
                <a:lnTo>
                  <a:pt x="27926413" y="20525914"/>
                </a:lnTo>
                <a:lnTo>
                  <a:pt x="0" y="205259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1" name="Google Shape;111;g3fbb17d8a82_1_5"/>
          <p:cNvSpPr txBox="1"/>
          <p:nvPr/>
        </p:nvSpPr>
        <p:spPr>
          <a:xfrm>
            <a:off x="4905600" y="164075"/>
            <a:ext cx="6792300" cy="127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Marc 3 verset 7-35 (Semeur) - </a:t>
            </a:r>
            <a:endParaRPr b="1" sz="3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g3fbb17d8a82_1_5"/>
          <p:cNvSpPr txBox="1"/>
          <p:nvPr/>
        </p:nvSpPr>
        <p:spPr>
          <a:xfrm>
            <a:off x="273475" y="1443875"/>
            <a:ext cx="16356300" cy="73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Plus tard, il monta sur une colline avoisinante et appela ceux qu’il voulait, et ils vinrent à lui. </a:t>
            </a:r>
            <a:r>
              <a:rPr b="1"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Il désigna ainsi douze hommes [qu’il nomma apôtres] et qui devaient être constamment avec lui ; </a:t>
            </a:r>
            <a:r>
              <a:rPr b="1"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il les envoya annoncer l’Evangile avec le pouvoir de chasser les démons. 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Voici les noms des Douze qu’il désigna  : Simon, auquel Jésus donna le nom de Pierre, </a:t>
            </a:r>
            <a:r>
              <a:rPr b="1"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Jacques, fils de Zébédée et Jean son frère auxquels il donna le nom de Boanergès, ce qui signifie « fils du tonnerre », </a:t>
            </a:r>
            <a:r>
              <a:rPr b="1"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André, Philippe, Barthélemy, Matthieu, Thomas, Jacques, fils d’Alphée, Thaddée, Simon le Zélé, 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et Judas Iscariot, celui qui le trahit.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bb17d8a82_1_1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7989" l="-1210" r="0" t="-83908"/>
            </a:stretch>
          </a:blipFill>
          <a:ln>
            <a:noFill/>
          </a:ln>
        </p:spPr>
      </p:sp>
      <p:sp>
        <p:nvSpPr>
          <p:cNvPr id="118" name="Google Shape;118;g3fbb17d8a82_1_13"/>
          <p:cNvSpPr/>
          <p:nvPr/>
        </p:nvSpPr>
        <p:spPr>
          <a:xfrm>
            <a:off x="-410099" y="-431209"/>
            <a:ext cx="27926414" cy="20525914"/>
          </a:xfrm>
          <a:custGeom>
            <a:rect b="b" l="l" r="r" t="t"/>
            <a:pathLst>
              <a:path extrusionOk="0" h="20525914" w="27926414">
                <a:moveTo>
                  <a:pt x="0" y="0"/>
                </a:moveTo>
                <a:lnTo>
                  <a:pt x="27926413" y="0"/>
                </a:lnTo>
                <a:lnTo>
                  <a:pt x="27926413" y="20525914"/>
                </a:lnTo>
                <a:lnTo>
                  <a:pt x="0" y="205259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9" name="Google Shape;119;g3fbb17d8a82_1_13"/>
          <p:cNvSpPr txBox="1"/>
          <p:nvPr/>
        </p:nvSpPr>
        <p:spPr>
          <a:xfrm>
            <a:off x="4905600" y="164075"/>
            <a:ext cx="6792300" cy="127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Marc 3 verset 7-35 (Semeur) - </a:t>
            </a:r>
            <a:endParaRPr b="1" sz="3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" name="Google Shape;120;g3fbb17d8a82_1_13"/>
          <p:cNvSpPr txBox="1"/>
          <p:nvPr/>
        </p:nvSpPr>
        <p:spPr>
          <a:xfrm>
            <a:off x="273475" y="1443875"/>
            <a:ext cx="16356300" cy="73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Jésus alla à la maison et, de nouveau, la foule s’y pressa au point que lui et ses disciples n’arrivaient même plus à manger. 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Quand les membres de sa famille l’apprirent, ils vinrent pour le ramener de force avec eux. Ils disaient en effet : « Il est devenu fou. » </a:t>
            </a:r>
            <a:r>
              <a:rPr b="1"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Les spécialistes de la Loi qui étaient venus de Jérusalem disaient : Il est sous l’emprise de Béelzébul  ; c’est par le pouvoir du chef des démons qu’il chasse les démons.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Alors Jésus les appela et leur parla en paraboles : Comment Satan peut-il chasser Satan ? </a:t>
            </a:r>
            <a:r>
              <a:rPr b="1"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Un royaume déchiré par la guerre civile ne peut pas subsister. 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Si une famille est divisée, cette famille ne peut pas subsister.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fbb17d8a82_1_2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7989" l="-1210" r="0" t="-83908"/>
            </a:stretch>
          </a:blipFill>
          <a:ln>
            <a:noFill/>
          </a:ln>
        </p:spPr>
      </p:sp>
      <p:sp>
        <p:nvSpPr>
          <p:cNvPr id="126" name="Google Shape;126;g3fbb17d8a82_1_21"/>
          <p:cNvSpPr/>
          <p:nvPr/>
        </p:nvSpPr>
        <p:spPr>
          <a:xfrm>
            <a:off x="-410099" y="-431209"/>
            <a:ext cx="27926414" cy="20525914"/>
          </a:xfrm>
          <a:custGeom>
            <a:rect b="b" l="l" r="r" t="t"/>
            <a:pathLst>
              <a:path extrusionOk="0" h="20525914" w="27926414">
                <a:moveTo>
                  <a:pt x="0" y="0"/>
                </a:moveTo>
                <a:lnTo>
                  <a:pt x="27926413" y="0"/>
                </a:lnTo>
                <a:lnTo>
                  <a:pt x="27926413" y="20525914"/>
                </a:lnTo>
                <a:lnTo>
                  <a:pt x="0" y="205259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7" name="Google Shape;127;g3fbb17d8a82_1_21"/>
          <p:cNvSpPr txBox="1"/>
          <p:nvPr/>
        </p:nvSpPr>
        <p:spPr>
          <a:xfrm>
            <a:off x="4905600" y="164075"/>
            <a:ext cx="6792300" cy="127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Marc 3 verset 7-35 (Semeur) - </a:t>
            </a:r>
            <a:endParaRPr b="1" sz="3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" name="Google Shape;128;g3fbb17d8a82_1_21"/>
          <p:cNvSpPr txBox="1"/>
          <p:nvPr/>
        </p:nvSpPr>
        <p:spPr>
          <a:xfrm>
            <a:off x="273475" y="1443875"/>
            <a:ext cx="16356300" cy="73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26 </a:t>
            </a: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donc Satan se bat contre lui-même, s’il est en conflit avec lui-même, il ne peut plus subsister, c’en est fini de lui.</a:t>
            </a:r>
            <a:r>
              <a:rPr b="1"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27 </a:t>
            </a: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fait, personne ne peut pénétrer dans la maison d’un homme fort pour s’emparer de ses biens sans avoir d’abord ligoté cet homme fort : c’est alors qu’il pillera sa maison.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 </a:t>
            </a: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Vraiment, je vous avertis : tout sera pardonné aux hommes, leurs péchés et les blasphèmes qu’ils auront prononcés.</a:t>
            </a:r>
            <a:r>
              <a:rPr b="1"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29 </a:t>
            </a: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Mais si quelqu’un blasphème contre l’Esprit Saint, il ne lui sera jamais pardonné : il portera éternellement la charge de ce péché.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 </a:t>
            </a: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Jésus leur parla ainsi parce qu’ils disaient : « Il est sous l’emprise d’un esprit mauvais. »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bb17d8a82_1_2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7989" l="-1210" r="0" t="-83908"/>
            </a:stretch>
          </a:blipFill>
          <a:ln>
            <a:noFill/>
          </a:ln>
        </p:spPr>
      </p:sp>
      <p:sp>
        <p:nvSpPr>
          <p:cNvPr id="134" name="Google Shape;134;g3fbb17d8a82_1_29"/>
          <p:cNvSpPr/>
          <p:nvPr/>
        </p:nvSpPr>
        <p:spPr>
          <a:xfrm>
            <a:off x="-410099" y="-431209"/>
            <a:ext cx="27926414" cy="20525914"/>
          </a:xfrm>
          <a:custGeom>
            <a:rect b="b" l="l" r="r" t="t"/>
            <a:pathLst>
              <a:path extrusionOk="0" h="20525914" w="27926414">
                <a:moveTo>
                  <a:pt x="0" y="0"/>
                </a:moveTo>
                <a:lnTo>
                  <a:pt x="27926413" y="0"/>
                </a:lnTo>
                <a:lnTo>
                  <a:pt x="27926413" y="20525914"/>
                </a:lnTo>
                <a:lnTo>
                  <a:pt x="0" y="205259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5" name="Google Shape;135;g3fbb17d8a82_1_29"/>
          <p:cNvSpPr txBox="1"/>
          <p:nvPr/>
        </p:nvSpPr>
        <p:spPr>
          <a:xfrm>
            <a:off x="4905600" y="164075"/>
            <a:ext cx="6792300" cy="127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Marc 3 verset 7-35 (Semeur) - </a:t>
            </a:r>
            <a:endParaRPr b="1" sz="3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" name="Google Shape;136;g3fbb17d8a82_1_29"/>
          <p:cNvSpPr txBox="1"/>
          <p:nvPr/>
        </p:nvSpPr>
        <p:spPr>
          <a:xfrm>
            <a:off x="273475" y="1443875"/>
            <a:ext cx="16356300" cy="66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 </a:t>
            </a: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mère et les frères de Jésus arrivèrent. Ils se tinrent dehors et envoyèrent quelqu’un l’appeler.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32 </a:t>
            </a: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Beaucoup de monde était assis autour de lui. On vint lui dire : Ta mère, tes frères et tes sœurs sont dehors et te cherchent.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33 </a:t>
            </a: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Il répondit : Qui sont ma mère et mes frères ?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34 </a:t>
            </a: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Et, promenant les regards sur ceux qui étaient assis en cercle autour de lui, il dit : Voici ma mère et mes frères, 35 car celui qui fait la volonté de Dieu, celui-là est pour moi un frère, une sœur, ou une mère.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bb17d8a82_1_3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7989" l="-1210" r="0" t="-83908"/>
            </a:stretch>
          </a:blipFill>
          <a:ln>
            <a:noFill/>
          </a:ln>
        </p:spPr>
      </p:sp>
      <p:sp>
        <p:nvSpPr>
          <p:cNvPr id="142" name="Google Shape;142;g3fbb17d8a82_1_37"/>
          <p:cNvSpPr/>
          <p:nvPr/>
        </p:nvSpPr>
        <p:spPr>
          <a:xfrm>
            <a:off x="-410099" y="-431209"/>
            <a:ext cx="27926414" cy="20525914"/>
          </a:xfrm>
          <a:custGeom>
            <a:rect b="b" l="l" r="r" t="t"/>
            <a:pathLst>
              <a:path extrusionOk="0" h="20525914" w="27926414">
                <a:moveTo>
                  <a:pt x="0" y="0"/>
                </a:moveTo>
                <a:lnTo>
                  <a:pt x="27926413" y="0"/>
                </a:lnTo>
                <a:lnTo>
                  <a:pt x="27926413" y="20525914"/>
                </a:lnTo>
                <a:lnTo>
                  <a:pt x="0" y="205259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43" name="Google Shape;143;g3fbb17d8a82_1_37" title="titr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16751251" cy="1103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bb17d8a82_1_4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7989" l="-1210" r="0" t="-83908"/>
            </a:stretch>
          </a:blipFill>
          <a:ln>
            <a:noFill/>
          </a:ln>
        </p:spPr>
      </p:sp>
      <p:sp>
        <p:nvSpPr>
          <p:cNvPr id="149" name="Google Shape;149;g3fbb17d8a82_1_43"/>
          <p:cNvSpPr/>
          <p:nvPr/>
        </p:nvSpPr>
        <p:spPr>
          <a:xfrm>
            <a:off x="-410099" y="-431209"/>
            <a:ext cx="27926414" cy="20525914"/>
          </a:xfrm>
          <a:custGeom>
            <a:rect b="b" l="l" r="r" t="t"/>
            <a:pathLst>
              <a:path extrusionOk="0" h="20525914" w="27926414">
                <a:moveTo>
                  <a:pt x="0" y="0"/>
                </a:moveTo>
                <a:lnTo>
                  <a:pt x="27926413" y="0"/>
                </a:lnTo>
                <a:lnTo>
                  <a:pt x="27926413" y="20525914"/>
                </a:lnTo>
                <a:lnTo>
                  <a:pt x="0" y="205259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